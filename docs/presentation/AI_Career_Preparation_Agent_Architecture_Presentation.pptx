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48640"/>
            <a:ext cx="6858000" cy="320040"/>
          </a:xfrm>
          <a:prstGeom prst="roundRect">
            <a:avLst/>
          </a:prstGeom>
          <a:solidFill>
            <a:srgbClr val="231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FULL-STACK AI PLATFORM  •  AUTONOMOUS CAREER PREPARATION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728655" cy="2926080"/>
          </a:xfrm>
          <a:prstGeom prst="roundRect">
            <a:avLst/>
          </a:prstGeom>
          <a:solidFill>
            <a:srgbClr val="191A3A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8FAFC"/>
                </a:solidFill>
                <a:latin typeface="Segoe UI"/>
              </a:defRPr>
            </a:pPr>
            <a:r>
              <a:t>AI CAREER PREPARATION AGENT</a:t>
            </a:r>
          </a:p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Autonomous, Adaptive Mock Interview Simulation &amp; ATS Career Intelligence Platform</a:t>
            </a:r>
          </a:p>
          <a:p>
            <a:pPr>
              <a:spcAft>
                <a:spcPts val="800"/>
              </a:spcAft>
              <a:defRPr sz="1100">
                <a:solidFill>
                  <a:srgbClr val="A5B4FC"/>
                </a:solidFill>
                <a:latin typeface="Segoe UI"/>
              </a:defRPr>
            </a:pPr>
            <a:r>
              <a:t>Full-stack intelligent agent with closed-loop perception, evaluation, radar skill profiling, and retention mechanics.</a:t>
            </a:r>
          </a:p>
          <a:p>
            <a:pPr>
              <a:defRPr sz="1100">
                <a:solidFill>
                  <a:srgbClr val="C8D2F0"/>
                </a:solidFill>
                <a:latin typeface="Segoe UI"/>
              </a:defRPr>
            </a:pPr>
            <a:r>
              <a:t>Stack: React 19 + Vite  |  FastAPI + Python 3.13  |  SQLite 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3456432" cy="201168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4434840"/>
            <a:ext cx="2011680" cy="256032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CLIENT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463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React 19 + Vite 8</a:t>
            </a:r>
          </a:p>
          <a:p>
            <a:pPr>
              <a:defRPr sz="1100">
                <a:solidFill>
                  <a:srgbClr val="A5B4FC"/>
                </a:solidFill>
                <a:latin typeface="Segoe UI"/>
              </a:defRPr>
            </a:pPr>
            <a:r>
              <a:t>Responsive Alexandria UI Theme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4251960"/>
            <a:ext cx="3456432" cy="201168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5152" y="4434840"/>
            <a:ext cx="2011680" cy="256032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INTELLIGENCE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48463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FastAPI + Generative AI</a:t>
            </a:r>
          </a:p>
          <a:p>
            <a:pPr>
              <a:defRPr sz="1100">
                <a:solidFill>
                  <a:srgbClr val="A5B4FC"/>
                </a:solidFill>
                <a:latin typeface="Segoe UI"/>
              </a:defRPr>
            </a:pPr>
            <a:r>
              <a:t>RAG Pipeline &amp; Audio/Video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4251960"/>
            <a:ext cx="3456432" cy="201168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84464" y="4434840"/>
            <a:ext cx="2011680" cy="256032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22C55E"/>
                </a:solidFill>
                <a:latin typeface="Segoe UI"/>
              </a:defRPr>
            </a:pPr>
            <a:r>
              <a:t>PERSISTENCE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48463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SQLAlchemy + SQLite</a:t>
            </a:r>
          </a:p>
          <a:p>
            <a:pPr>
              <a:defRPr sz="1100">
                <a:solidFill>
                  <a:srgbClr val="A5B4FC"/>
                </a:solidFill>
                <a:latin typeface="Segoe UI"/>
              </a:defRPr>
            </a:pPr>
            <a:r>
              <a:t>Deterministic Streak &amp; XP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PROBLEM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Interview Preparation Disconnect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Traditional career preparation is fractured, generic, and lacks adaptive feedback loops.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56432" cy="384048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057400"/>
            <a:ext cx="1828800" cy="256032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DISJOINTED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Fragmented Ecosystem</a:t>
            </a:r>
          </a:p>
          <a:p>
            <a:pPr>
              <a:defRPr sz="1050">
                <a:solidFill>
                  <a:srgbClr val="A5B4FC"/>
                </a:solidFill>
                <a:latin typeface="Segoe UI"/>
              </a:defRPr>
            </a:pPr>
            <a:r>
              <a:t>Students juggle multiple isolated tools: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• Resumes edited on generic document builders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• Coding practiced on LeetCode without context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• Behavioral questions read passively from blogs</a:t>
            </a:r>
          </a:p>
          <a:p>
            <a:pPr>
              <a:defRPr sz="1050">
                <a:solidFill>
                  <a:srgbClr val="A5B4FC"/>
                </a:solidFill>
                <a:latin typeface="Segoe UI"/>
              </a:defRPr>
            </a:pPr>
          </a:p>
          <a:p>
            <a:pPr>
              <a:defRPr sz="1050">
                <a:solidFill>
                  <a:srgbClr val="A5B4FC"/>
                </a:solidFill>
                <a:latin typeface="Segoe UI"/>
              </a:defRPr>
            </a:pPr>
            <a:r>
              <a:t>No unified system connects resume deficits to interview questions and daily remediation.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3456432" cy="384048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5152" y="2057400"/>
            <a:ext cx="1828800" cy="256032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STATELESS &amp; REACTIVE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46888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Passive Chatbot Flaw</a:t>
            </a:r>
          </a:p>
          <a:p>
            <a:pPr>
              <a:defRPr sz="1050">
                <a:solidFill>
                  <a:srgbClr val="A5B4FC"/>
                </a:solidFill>
                <a:latin typeface="Segoe UI"/>
              </a:defRPr>
            </a:pPr>
            <a:r>
              <a:t>Standard conversational chatbots fail as coaches: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• Purely reactive: Wait for candidate prompt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• Zero longitudinal memory of past failures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• No scoring rubrics (STAR, Clarity, Confidence)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• Cannot prescribe the next optimal activity</a:t>
            </a:r>
          </a:p>
          <a:p>
            <a:pPr>
              <a:defRPr sz="1050">
                <a:solidFill>
                  <a:srgbClr val="A5B4FC"/>
                </a:solidFill>
                <a:latin typeface="Segoe UI"/>
              </a:defRPr>
            </a:pPr>
          </a:p>
          <a:p>
            <a:pPr>
              <a:defRPr sz="1050">
                <a:solidFill>
                  <a:srgbClr val="A5B4FC"/>
                </a:solidFill>
                <a:latin typeface="Segoe UI"/>
              </a:defRPr>
            </a:pPr>
            <a:r>
              <a:t>Chatbots answer queries; they do not build careers.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456432" cy="384048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84464" y="2057400"/>
            <a:ext cx="1828800" cy="256032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EC4899"/>
                </a:solidFill>
                <a:latin typeface="Segoe UI"/>
              </a:defRPr>
            </a:pPr>
            <a:r>
              <a:t>THE FEEDBACK VACUUM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46888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Blind Interviewing</a:t>
            </a:r>
          </a:p>
          <a:p>
            <a:pPr>
              <a:defRPr sz="1050">
                <a:solidFill>
                  <a:srgbClr val="A5B4FC"/>
                </a:solidFill>
                <a:latin typeface="Segoe UI"/>
              </a:defRPr>
            </a:pPr>
            <a:r>
              <a:t>Candidates enter technical rounds unaware of: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• Exact ATS keyword omissions vs job descriptions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• Communication weaknesses in STAR structuring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• Trade-off articulation under time constraints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• Specific deficit areas requiring practice</a:t>
            </a:r>
          </a:p>
          <a:p>
            <a:pPr>
              <a:defRPr sz="1050">
                <a:solidFill>
                  <a:srgbClr val="A5B4FC"/>
                </a:solidFill>
                <a:latin typeface="Segoe UI"/>
              </a:defRPr>
            </a:pPr>
          </a:p>
          <a:p>
            <a:pPr>
              <a:defRPr sz="1050">
                <a:solidFill>
                  <a:srgbClr val="A5B4FC"/>
                </a:solidFill>
                <a:latin typeface="Segoe UI"/>
              </a:defRPr>
            </a:pPr>
            <a:r>
              <a:t>Rejections occur without actionable guidance.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806440"/>
            <a:ext cx="10728655" cy="68580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97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💡 Key Research Insight: Job readiness requires an autonomous, closed-loop agent: Resume Audit → Skill Gap → Mock Round → Feedback → Targeted Remediation.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CORE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Paradigm Shift: AI Agent vs. Generic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Positioning InterviewAI as an active career coach rather than an interactive chat prompt.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3931920"/>
          </a:xfrm>
          <a:prstGeom prst="roundRect">
            <a:avLst/>
          </a:prstGeom>
          <a:solidFill>
            <a:srgbClr val="141834"/>
          </a:solidFill>
          <a:ln w="1905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057400"/>
            <a:ext cx="2011680" cy="274320"/>
          </a:xfrm>
          <a:prstGeom prst="roundRect">
            <a:avLst/>
          </a:prstGeom>
          <a:solidFill>
            <a:srgbClr val="2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900" b="1">
                <a:solidFill>
                  <a:srgbClr val="EC4899"/>
                </a:solidFill>
                <a:latin typeface="Segoe UI"/>
              </a:defRPr>
            </a:pPr>
            <a:r>
              <a:t>CONVENTIONAL 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A96AA"/>
                </a:solidFill>
                <a:latin typeface="Segoe UI"/>
              </a:defRPr>
            </a:pPr>
            <a:r>
              <a:t>❌  Passive Interaction: </a:t>
            </a:r>
            <a:r>
              <a:rPr sz="1100" b="0">
                <a:solidFill>
                  <a:srgbClr val="A5B4FC"/>
                </a:solidFill>
                <a:latin typeface="Segoe UI"/>
              </a:rPr>
              <a:t>Only responds when the user types a prompt; no initiative.</a:t>
            </a:r>
          </a:p>
          <a:p>
            <a:pPr>
              <a:spcAft>
                <a:spcPts val="800"/>
              </a:spcAft>
              <a:defRPr sz="1150" b="1">
                <a:solidFill>
                  <a:srgbClr val="FA96AA"/>
                </a:solidFill>
                <a:latin typeface="Segoe UI"/>
              </a:defRPr>
            </a:pPr>
            <a:r>
              <a:t>❌  Stateless History: </a:t>
            </a:r>
            <a:r>
              <a:rPr sz="1100" b="0">
                <a:solidFill>
                  <a:srgbClr val="A5B4FC"/>
                </a:solidFill>
                <a:latin typeface="Segoe UI"/>
              </a:rPr>
              <a:t>Treats every question as independent; no candidate trajectory.</a:t>
            </a:r>
          </a:p>
          <a:p>
            <a:pPr>
              <a:spcAft>
                <a:spcPts val="800"/>
              </a:spcAft>
              <a:defRPr sz="1150" b="1">
                <a:solidFill>
                  <a:srgbClr val="FA96AA"/>
                </a:solidFill>
                <a:latin typeface="Segoe UI"/>
              </a:defRPr>
            </a:pPr>
            <a:r>
              <a:t>❌  Generic Questions: </a:t>
            </a:r>
            <a:r>
              <a:rPr sz="1100" b="0">
                <a:solidFill>
                  <a:srgbClr val="A5B4FC"/>
                </a:solidFill>
                <a:latin typeface="Segoe UI"/>
              </a:rPr>
              <a:t>Dumps broad internet interview lists without calibration.</a:t>
            </a:r>
          </a:p>
          <a:p>
            <a:pPr>
              <a:spcAft>
                <a:spcPts val="800"/>
              </a:spcAft>
              <a:defRPr sz="1150" b="1">
                <a:solidFill>
                  <a:srgbClr val="FA96AA"/>
                </a:solidFill>
                <a:latin typeface="Segoe UI"/>
              </a:defRPr>
            </a:pPr>
            <a:r>
              <a:t>❌  No Rubric Assessment: </a:t>
            </a:r>
            <a:r>
              <a:rPr sz="1100" b="0">
                <a:solidFill>
                  <a:srgbClr val="A5B4FC"/>
                </a:solidFill>
                <a:latin typeface="Segoe UI"/>
              </a:rPr>
              <a:t>Cannot score STAR structure, clarity, or trade-off depth.</a:t>
            </a:r>
          </a:p>
          <a:p>
            <a:pPr>
              <a:spcAft>
                <a:spcPts val="800"/>
              </a:spcAft>
              <a:defRPr sz="1150" b="1">
                <a:solidFill>
                  <a:srgbClr val="FA96AA"/>
                </a:solidFill>
                <a:latin typeface="Segoe UI"/>
              </a:defRPr>
            </a:pPr>
            <a:r>
              <a:t>❌  No Remediation Plan: </a:t>
            </a:r>
            <a:r>
              <a:rPr sz="1100" b="0">
                <a:solidFill>
                  <a:srgbClr val="A5B4FC"/>
                </a:solidFill>
                <a:latin typeface="Segoe UI"/>
              </a:rPr>
              <a:t>Leaves candidate to figure out what to practice next.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3931920"/>
          </a:xfrm>
          <a:prstGeom prst="roundRect">
            <a:avLst/>
          </a:prstGeom>
          <a:solidFill>
            <a:srgbClr val="191A3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2057400"/>
            <a:ext cx="2286000" cy="274320"/>
          </a:xfrm>
          <a:prstGeom prst="roundRect">
            <a:avLst/>
          </a:prstGeom>
          <a:solidFill>
            <a:srgbClr val="14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AI CAREER AGENT (OUR WORK)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6B6D4"/>
                </a:solidFill>
                <a:latin typeface="Segoe UI"/>
              </a:defRPr>
            </a:pPr>
            <a:r>
              <a:t>✅  Proactive Coaching: </a:t>
            </a:r>
            <a:r>
              <a:rPr sz="1100" b="0">
                <a:solidFill>
                  <a:srgbClr val="F8FAFC"/>
                </a:solidFill>
                <a:latin typeface="Segoe UI"/>
              </a:rPr>
              <a:t>Identifies lowest proficiencies and prescribes next best drill.</a:t>
            </a:r>
          </a:p>
          <a:p>
            <a:pPr>
              <a:spcAft>
                <a:spcPts val="800"/>
              </a:spcAft>
              <a:defRPr sz="1150" b="1">
                <a:solidFill>
                  <a:srgbClr val="06B6D4"/>
                </a:solidFill>
                <a:latin typeface="Segoe UI"/>
              </a:defRPr>
            </a:pPr>
            <a:r>
              <a:t>✅  State-Aware Continuity: </a:t>
            </a:r>
            <a:r>
              <a:rPr sz="1100" b="0">
                <a:solidFill>
                  <a:srgbClr val="F8FAFC"/>
                </a:solidFill>
                <a:latin typeface="Segoe UI"/>
              </a:rPr>
              <a:t>Tracks streak, level, XP, and multi-session progress.</a:t>
            </a:r>
          </a:p>
          <a:p>
            <a:pPr>
              <a:spcAft>
                <a:spcPts val="800"/>
              </a:spcAft>
              <a:defRPr sz="1150" b="1">
                <a:solidFill>
                  <a:srgbClr val="06B6D4"/>
                </a:solidFill>
                <a:latin typeface="Segoe UI"/>
              </a:defRPr>
            </a:pPr>
            <a:r>
              <a:t>✅  Domain-Calibrated Setup: </a:t>
            </a:r>
            <a:r>
              <a:rPr sz="1100" b="0">
                <a:solidFill>
                  <a:srgbClr val="F8FAFC"/>
                </a:solidFill>
                <a:latin typeface="Segoe UI"/>
              </a:rPr>
              <a:t>Tailors prompts across 6 technical tracks &amp; 3 difficulty tiers.</a:t>
            </a:r>
          </a:p>
          <a:p>
            <a:pPr>
              <a:spcAft>
                <a:spcPts val="800"/>
              </a:spcAft>
              <a:defRPr sz="1150" b="1">
                <a:solidFill>
                  <a:srgbClr val="06B6D4"/>
                </a:solidFill>
                <a:latin typeface="Segoe UI"/>
              </a:defRPr>
            </a:pPr>
            <a:r>
              <a:t>✅  Multi-Metric Evaluation: </a:t>
            </a:r>
            <a:r>
              <a:rPr sz="1100" b="0">
                <a:solidFill>
                  <a:srgbClr val="F8FAFC"/>
                </a:solidFill>
                <a:latin typeface="Segoe UI"/>
              </a:rPr>
              <a:t>Scores responses on 5 axes: Technical, STAR, Confidence, etc.</a:t>
            </a:r>
          </a:p>
          <a:p>
            <a:pPr>
              <a:spcAft>
                <a:spcPts val="800"/>
              </a:spcAft>
              <a:defRPr sz="1150" b="1">
                <a:solidFill>
                  <a:srgbClr val="06B6D4"/>
                </a:solidFill>
                <a:latin typeface="Segoe UI"/>
              </a:defRPr>
            </a:pPr>
            <a:r>
              <a:t>✅  Adaptive Closed Loop: </a:t>
            </a:r>
            <a:r>
              <a:rPr sz="1100" b="0">
                <a:solidFill>
                  <a:srgbClr val="F8FAFC"/>
                </a:solidFill>
                <a:latin typeface="Segoe UI"/>
              </a:rPr>
              <a:t>Weakness detected in mock interview updates daily practice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897880"/>
            <a:ext cx="10698480" cy="594360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61888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🤖 Autonomous Agent Loop: [Analyze Performance] ➔ [Isolate Bottleneck] ➔ [Prioritize Impact] ➔ [Prescribe Focused Action]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LITERATURE SURVEY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Research Foundations: AI Interview Assistance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Connecting current academic research to the functional prototype implementation.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587752" cy="3977639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93392"/>
            <a:ext cx="1645920" cy="237744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A855F7"/>
                </a:solidFill>
                <a:latin typeface="Segoe UI"/>
              </a:defRPr>
            </a:pPr>
            <a:r>
              <a:t>QUESTION GENERATION &amp;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1. AI-Based Mock Interviews</a:t>
            </a: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Literature Highlights: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Dynamic question calibration to role &amp; seniority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Paced technical probes and follow-up drills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Timed responses mirroring real phone screens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Prototype Implementation:</a:t>
            </a:r>
          </a:p>
          <a:p>
            <a:pPr>
              <a:defRPr sz="950" b="1">
                <a:solidFill>
                  <a:srgbClr val="22C55E"/>
                </a:solidFill>
                <a:latin typeface="Segoe UI"/>
              </a:defRPr>
            </a:pPr>
            <a:r>
              <a:t>✓ Role-calibrated question bank (6 domains)</a:t>
            </a:r>
          </a:p>
          <a:p>
            <a:pPr>
              <a:defRPr sz="950" b="1">
                <a:solidFill>
                  <a:srgbClr val="22C55E"/>
                </a:solidFill>
                <a:latin typeface="Segoe UI"/>
              </a:defRPr>
            </a:pPr>
            <a:r>
              <a:t>✓ Live 3-minute per-question countdown timer</a:t>
            </a:r>
          </a:p>
          <a:p>
            <a:pPr>
              <a:defRPr sz="950" b="1">
                <a:solidFill>
                  <a:srgbClr val="22C55E"/>
                </a:solidFill>
                <a:latin typeface="Segoe UI"/>
              </a:defRPr>
            </a:pPr>
            <a:r>
              <a:t>✓ Adaptive difficulty escalation / reinforcement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828800"/>
            <a:ext cx="2587752" cy="3977639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9312" y="1993392"/>
            <a:ext cx="1645920" cy="237744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06B6D4"/>
                </a:solidFill>
                <a:latin typeface="Segoe UI"/>
              </a:defRPr>
            </a:pPr>
            <a:r>
              <a:t>PERFORMANCE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33172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2. Multi-Metric Evaluation</a:t>
            </a: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Literature Highlights: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Evaluating structure (STAR framework)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Technical concept depth &amp; vocabulary usage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Decisiveness and delivery confidence metrics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Prototype Implementation:</a:t>
            </a:r>
          </a:p>
          <a:p>
            <a:pPr>
              <a:defRPr sz="950" b="1">
                <a:solidFill>
                  <a:srgbClr val="22C55E"/>
                </a:solidFill>
                <a:latin typeface="Segoe UI"/>
              </a:defRPr>
            </a:pPr>
            <a:r>
              <a:t>✓ 5-Dimension rubric heuristic scoring</a:t>
            </a:r>
          </a:p>
          <a:p>
            <a:pPr>
              <a:defRPr sz="950" b="1">
                <a:solidFill>
                  <a:srgbClr val="22C55E"/>
                </a:solidFill>
                <a:latin typeface="Segoe UI"/>
              </a:defRPr>
            </a:pPr>
            <a:r>
              <a:t>✓ Question-by-question performance accordion</a:t>
            </a:r>
          </a:p>
          <a:p>
            <a:pPr>
              <a:defRPr sz="950" b="1">
                <a:solidFill>
                  <a:srgbClr val="22C55E"/>
                </a:solidFill>
                <a:latin typeface="Segoe UI"/>
              </a:defRPr>
            </a:pPr>
            <a:r>
              <a:t>✓ Concrete strengths and areas to improve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828800"/>
            <a:ext cx="2587752" cy="3977639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4" y="1993392"/>
            <a:ext cx="1645920" cy="237744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22C55E"/>
                </a:solidFill>
                <a:latin typeface="Segoe UI"/>
              </a:defRPr>
            </a:pPr>
            <a:r>
              <a:t>COMPETENCY BENCHMARKING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33172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3. Skill Gap Detection</a:t>
            </a: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Literature Highlights: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Mapping evaluated answers to market criteria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Isolating critical hiring threshold deficits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Formulating custom remediation roadmaps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Prototype Implementation:</a:t>
            </a:r>
          </a:p>
          <a:p>
            <a:pPr>
              <a:defRPr sz="950" b="1">
                <a:solidFill>
                  <a:srgbClr val="22C55E"/>
                </a:solidFill>
                <a:latin typeface="Segoe UI"/>
              </a:defRPr>
            </a:pPr>
            <a:r>
              <a:t>✓ 8-Skill profile with 6-axis SVG Radar Chart</a:t>
            </a:r>
          </a:p>
          <a:p>
            <a:pPr>
              <a:defRPr sz="950" b="1">
                <a:solidFill>
                  <a:srgbClr val="22C55E"/>
                </a:solidFill>
                <a:latin typeface="Segoe UI"/>
              </a:defRPr>
            </a:pPr>
            <a:r>
              <a:t>✓ Dynamic ranking of Top 3 bottleneck skills</a:t>
            </a:r>
          </a:p>
          <a:p>
            <a:pPr>
              <a:defRPr sz="950" b="1">
                <a:solidFill>
                  <a:srgbClr val="22C55E"/>
                </a:solidFill>
                <a:latin typeface="Segoe UI"/>
              </a:defRPr>
            </a:pPr>
            <a:r>
              <a:t>✓ 4-Step personalized preparation pathway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828800"/>
            <a:ext cx="2587752" cy="3977639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89136" y="1993392"/>
            <a:ext cx="1645920" cy="237744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A5B4FC"/>
                </a:solidFill>
                <a:latin typeface="Segoe UI"/>
              </a:defRPr>
            </a:pPr>
            <a:r>
              <a:t>SPEECH &amp; GESTURE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33172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4. Multimodal Analysis</a:t>
            </a: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Literature Highlights: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Acoustic speech emotion &amp; pitch analysis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Facial expression &amp; eye-gaze tracking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Real-time speech-to-text / text-to-speech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Prototype Scope Mapping:</a:t>
            </a:r>
          </a:p>
          <a:p>
            <a:pPr>
              <a:defRPr sz="950">
                <a:solidFill>
                  <a:srgbClr val="F59E0B"/>
                </a:solidFill>
                <a:latin typeface="Segoe UI"/>
              </a:defRPr>
            </a:pPr>
            <a:r>
              <a:t>→ Honest Academic Boundary: Mapped as Future Scope (Phase 2)</a:t>
            </a:r>
          </a:p>
          <a:p>
            <a:pPr>
              <a:defRPr sz="950">
                <a:solidFill>
                  <a:srgbClr val="F59E0B"/>
                </a:solidFill>
                <a:latin typeface="Segoe UI"/>
              </a:defRPr>
            </a:pPr>
            <a:r>
              <a:t>→ Voice Mode signposted as 'Coming Soon'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943600"/>
            <a:ext cx="10728655" cy="54864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5B4FC"/>
                </a:solidFill>
                <a:latin typeface="Segoe UI"/>
              </a:defRPr>
            </a:pPr>
            <a:r>
              <a:t>📌 Architectural Positioning: The system realizes all core software &amp; decision components while preserving advanced multimodal sensory analytics for future engineering.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Proposed Solution: AI Career Preparation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A cohesive client-side web application linking resume analysis, mock rounds, and daily gamified practice.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56432" cy="1965960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011680"/>
            <a:ext cx="1645920" cy="228600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06B6D4"/>
                </a:solidFill>
                <a:latin typeface="Segoe UI"/>
              </a:defRPr>
            </a:pPr>
            <a:r>
              <a:t>ROLE CALIBRATION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29992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1. Intelligent Setup</a:t>
            </a:r>
          </a:p>
          <a:p>
            <a:pPr>
              <a:defRPr sz="1000">
                <a:solidFill>
                  <a:srgbClr val="A5B4FC"/>
                </a:solidFill>
                <a:latin typeface="Segoe UI"/>
              </a:defRPr>
            </a:pPr>
            <a:r>
              <a:t>Select from 6 engineering tracks (ML, SWE, Data Science) and 3 difficulty tiers with resume &amp; JD ingestion.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3456432" cy="1965960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9432" y="2011680"/>
            <a:ext cx="1645920" cy="228600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A855F7"/>
                </a:solidFill>
                <a:latin typeface="Segoe UI"/>
              </a:defRPr>
            </a:pPr>
            <a:r>
              <a:t>TIMED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31720"/>
            <a:ext cx="29992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2. Mock Interview</a:t>
            </a:r>
          </a:p>
          <a:p>
            <a:pPr>
              <a:defRPr sz="1000">
                <a:solidFill>
                  <a:srgbClr val="A5B4FC"/>
                </a:solidFill>
                <a:latin typeface="Segoe UI"/>
              </a:defRPr>
            </a:pPr>
            <a:r>
              <a:t>Active 3:00 timer, word counter, question progression, and adaptive difficulty escalation / reinforcement.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456432" cy="1965960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8744" y="2011680"/>
            <a:ext cx="1645920" cy="228600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EC4899"/>
                </a:solidFill>
                <a:latin typeface="Segoe UI"/>
              </a:defRPr>
            </a:pPr>
            <a:r>
              <a:t>MULTI-METRIC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31720"/>
            <a:ext cx="29992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3. Performance Evaluator</a:t>
            </a:r>
          </a:p>
          <a:p>
            <a:pPr>
              <a:defRPr sz="1000">
                <a:solidFill>
                  <a:srgbClr val="A5B4FC"/>
                </a:solidFill>
                <a:latin typeface="Segoe UI"/>
              </a:defRPr>
            </a:pPr>
            <a:r>
              <a:t>Evaluates answers across 5 rubric axes with circular score gauges, strengths, improvements, and decision timeline.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56432" cy="1965960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114800"/>
            <a:ext cx="1645920" cy="228600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22C55E"/>
                </a:solidFill>
                <a:latin typeface="Segoe UI"/>
              </a:defRPr>
            </a:pPr>
            <a:r>
              <a:t>SVG RADAR FOOTPRINT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434840"/>
            <a:ext cx="29992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4. Skill Gap Analyzer</a:t>
            </a:r>
          </a:p>
          <a:p>
            <a:pPr>
              <a:defRPr sz="1000">
                <a:solidFill>
                  <a:srgbClr val="A5B4FC"/>
                </a:solidFill>
                <a:latin typeface="Segoe UI"/>
              </a:defRPr>
            </a:pPr>
            <a:r>
              <a:t>Trigonometric 6-axis radar visualizer isolating Top 3 candidate bottlenecks and prescribing 4-step learning paths.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3931920"/>
            <a:ext cx="3456432" cy="1965960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99432" y="4114800"/>
            <a:ext cx="1645920" cy="228600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KEYWORD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4434840"/>
            <a:ext cx="29992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5. ATS Resume Scanner</a:t>
            </a:r>
          </a:p>
          <a:p>
            <a:pPr>
              <a:defRPr sz="1000">
                <a:solidFill>
                  <a:srgbClr val="A5B4FC"/>
                </a:solidFill>
                <a:latin typeface="Segoe UI"/>
              </a:defRPr>
            </a:pPr>
            <a:r>
              <a:t>Audits resumes against job descriptions, identifying matched vs missing critical engineering keywords (84/100 score).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3931920"/>
            <a:ext cx="3456432" cy="1965960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38744" y="4114800"/>
            <a:ext cx="1645920" cy="228600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06B6D4"/>
                </a:solidFill>
                <a:latin typeface="Segoe UI"/>
              </a:defRPr>
            </a:pPr>
            <a:r>
              <a:t>DASHBOARD &amp; STREAKS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4434840"/>
            <a:ext cx="29992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6. Gamified Control Center</a:t>
            </a:r>
          </a:p>
          <a:p>
            <a:pPr>
              <a:defRPr sz="1000">
                <a:solidFill>
                  <a:srgbClr val="A5B4FC"/>
                </a:solidFill>
                <a:latin typeface="Segoe UI"/>
              </a:defRPr>
            </a:pPr>
            <a:r>
              <a:t>Central command dashboard tracking 7-day streak, XP level progression, interactive daily practice plan, and achievements.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172200"/>
            <a:ext cx="10728655" cy="41148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19963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🎯 Core Platform Achievement: Zero dead ends across 13 routes — every page actively informs and updates the user's career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PROJECT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Project Objectives &amp; Scope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Defining explicit academic expectations, technical deliverables, and non-goals.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057400"/>
            <a:ext cx="2194560" cy="274320"/>
          </a:xfrm>
          <a:prstGeom prst="roundRect">
            <a:avLst/>
          </a:prstGeom>
          <a:solidFill>
            <a:srgbClr val="231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900" b="1">
                <a:solidFill>
                  <a:srgbClr val="A855F7"/>
                </a:solidFill>
                <a:latin typeface="Segoe UI"/>
              </a:defRPr>
            </a:pPr>
            <a:r>
              <a:t>CORE ACADEMIC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🎯  High-Fidelity AI SaaS UI</a:t>
            </a:r>
            <a:br/>
            <a:r>
              <a:rPr sz="1000" b="0">
                <a:solidFill>
                  <a:srgbClr val="A5B4FC"/>
                </a:solidFill>
                <a:latin typeface="Segoe UI"/>
              </a:rPr>
              <a:t>Implement a dark-themed, glassmorphic, responsive frontend following modern design systems.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🎯  Complete Candidate Journey</a:t>
            </a:r>
            <a:br/>
            <a:r>
              <a:rPr sz="1000" b="0">
                <a:solidFill>
                  <a:srgbClr val="A5B4FC"/>
                </a:solidFill>
                <a:latin typeface="Segoe UI"/>
              </a:rPr>
              <a:t>Ensure 100% functional user flow: Landing ➔ Setup ➔ Mock ➔ Feedback ➔ Skill Gap ➔ Dashboard.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🎯  Autonomous Agent Behavior</a:t>
            </a:r>
            <a:br/>
            <a:r>
              <a:rPr sz="1000" b="0">
                <a:solidFill>
                  <a:srgbClr val="A5B4FC"/>
                </a:solidFill>
                <a:latin typeface="Segoe UI"/>
              </a:rPr>
              <a:t>Demonstrate rule-based decision logic that dynamically recommends remediation based on evaluated deficits.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🎯  Zero-Dependency Data Visuals</a:t>
            </a:r>
            <a:br/>
            <a:r>
              <a:rPr sz="1000" b="0">
                <a:solidFill>
                  <a:srgbClr val="A5B4FC"/>
                </a:solidFill>
                <a:latin typeface="Segoe UI"/>
              </a:rPr>
              <a:t>Design pure SVG radar and line charts without external bloat or React 19 compatibility issues.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🎯  Gamified Habit Formation</a:t>
            </a:r>
            <a:br/>
            <a:r>
              <a:rPr sz="1000" b="0">
                <a:solidFill>
                  <a:srgbClr val="A5B4FC"/>
                </a:solidFill>
                <a:latin typeface="Segoe UI"/>
              </a:rPr>
              <a:t>Encourage consistency through streaks, XP accumulation, daily challenges, and unlocked achievements.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41834"/>
          </a:solidFill>
          <a:ln w="1905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2057400"/>
            <a:ext cx="2194560" cy="274320"/>
          </a:xfrm>
          <a:prstGeom prst="roundRect">
            <a:avLst/>
          </a:prstGeom>
          <a:solidFill>
            <a:srgbClr val="19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SCOPE &amp; BOUNDARY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22C55E"/>
                </a:solidFill>
                <a:latin typeface="Segoe UI"/>
              </a:defRPr>
            </a:pPr>
            <a:r>
              <a:t>📌  What This System IS</a:t>
            </a:r>
            <a:br/>
            <a:r>
              <a:rPr sz="1000" b="0">
                <a:solidFill>
                  <a:srgbClr val="F8FAFC"/>
                </a:solidFill>
                <a:latin typeface="Segoe UI"/>
              </a:rPr>
              <a:t>• A functional full-stack career preparation platform / proof-of-concept
• Client-side deterministic evaluation &amp; agent reasoning
• Persistent state architecture with FastAPI backend
• High-engagement UI demonstrating the entire product vision</a:t>
            </a:r>
          </a:p>
          <a:p>
            <a:pPr>
              <a:spcAft>
                <a:spcPts val="1200"/>
              </a:spcAft>
              <a:defRPr sz="1150" b="1">
                <a:solidFill>
                  <a:srgbClr val="22C55E"/>
                </a:solidFill>
                <a:latin typeface="Segoe UI"/>
              </a:defRPr>
            </a:pPr>
            <a:r>
              <a:t>📌  What This System IS NOT</a:t>
            </a:r>
            <a:br/>
            <a:r>
              <a:rPr sz="1000" b="0">
                <a:solidFill>
                  <a:srgbClr val="F8FAFC"/>
                </a:solidFill>
                <a:latin typeface="Segoe UI"/>
              </a:rPr>
              <a:t>• NOT a commercial production SaaS platform
• NO paid external LLM API dependencies or token latency required
• NO complex third-party tracking scripts
• NO ungrounded hallucinated scoring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1081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⚖️ Academic Honesty: All prototype capabilities are accurately documented; future sensory/cloud features are explicitly segmented.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System Architecture &amp; Autonomous Decision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A decoupled 3-tier client architecture separating UI presentation, state persistence, and agent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728655" cy="123444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1993392"/>
            <a:ext cx="2194560" cy="219456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A855F7"/>
                </a:solidFill>
                <a:latin typeface="Segoe UI"/>
              </a:defRPr>
            </a:pPr>
            <a:r>
              <a:t>UI / COMPONENT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Layer 1: Presentation &amp; Interaction Tier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Built with React 19 and Tailwind CSS v4 for sub-second reactive rendering</a:t>
            </a:r>
            <a:br/>
            <a:r>
              <a:t>• 13 Dedicated Pages with glassmorphic cards, responsive grids, and micro-interactions</a:t>
            </a:r>
            <a:br/>
            <a:r>
              <a:t>• Custom Mathematical SVG Visualizers: 6-Axis Radar Chart &amp; Cubic-Bezier Line Chart</a:t>
            </a:r>
            <a:br/>
            <a:r>
              <a:t>• Zero third-party chart dependencies ensuring long-term build stability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728655" cy="123444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3364992"/>
            <a:ext cx="2194560" cy="219456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06B6D4"/>
                </a:solidFill>
                <a:latin typeface="Segoe UI"/>
              </a:defRPr>
            </a:pPr>
            <a:r>
              <a:t>CONTEXT &amp; LOCALSTORAGE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Layer 2: State Management &amp; Persistence Tier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InterviewContext: Tracks active setup, question timers, submitted answers, and rubric scores</a:t>
            </a:r>
            <a:br/>
            <a:r>
              <a:t>• AuthContext: Manages demo user session, level calculations (500 XP/tier), and streak</a:t>
            </a:r>
            <a:br/>
            <a:r>
              <a:t>• LocalStorage Sync: Keys for interview history, ATS audits, streak dates, and daily challenges</a:t>
            </a:r>
            <a:br/>
            <a:r>
              <a:t>• Cross-Page Data Flow: Live interview evaluations instantly update Dashboard &amp; Skill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728655" cy="123444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4736592"/>
            <a:ext cx="2194560" cy="219456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22C55E"/>
                </a:solidFill>
                <a:latin typeface="Segoe UI"/>
              </a:defRPr>
            </a:pPr>
            <a:r>
              <a:t>DETERMINISTIC RULE HEURISTICS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10912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Layer 3: Autonomous Agent Decision Engine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evaluator.js: Multi-metric rubric engine scoring Technical, Structure, Clarity, and Confidence</a:t>
            </a:r>
            <a:br/>
            <a:r>
              <a:t>• skillGapAnalyzer.js: Categorizes skills into Strong (≥80%), Needs Practice, and Priority (&lt;65%)</a:t>
            </a:r>
            <a:br/>
            <a:r>
              <a:t>• Dynamic Bottleneck Ranking: Sorts proficiencies ascending to isolate Top 3 critical deficits</a:t>
            </a:r>
            <a:br/>
            <a:r>
              <a:t>• Adaptive Pacing Engine: Escalates difficulty (≥8.0) or reinforces foundational checks (&lt;6.5)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61081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⚡ Concrete Agent Rule: IF (Communication &lt; 70) ➔ Prescribe STAR Drill  |  IF (Lowest = System Design @ 61%) ➔ Dashboard CTA Routes to Architecture Drill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Technology Stack &amp; Implementation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Engineered with modern frontend standards focusing on lightweight execution and zero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57800" cy="201168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011680"/>
            <a:ext cx="2011680" cy="228600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A855F7"/>
                </a:solidFill>
                <a:latin typeface="Segoe UI"/>
              </a:defRPr>
            </a:pPr>
            <a:r>
              <a:t>REACT 19 + VITE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Frontend Core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Modern React v19 component architecture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Vite v8 for lightning-fast HMR and 1.05s builds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Pure client-side routing via React Router DOM v7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ProtectedRoute wrappers and return-path memory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Modular layout architecture with shared AppLayout shell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828800"/>
            <a:ext cx="5257800" cy="201168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28232" y="2011680"/>
            <a:ext cx="2011680" cy="228600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06B6D4"/>
                </a:solidFill>
                <a:latin typeface="Segoe UI"/>
              </a:defRPr>
            </a:pPr>
            <a:r>
              <a:t>TAILWIND CSS V4 + GLASSMORPHISM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331720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Styling &amp; Design System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Tailwind CSS v4 compiler integration (@tailwindcss/vite)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Custom CSS glow filters, blur backdrops, and radial gradients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Purple (#7C3AED) and Cyan (#06B6D4) futuristic AI theme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Fully responsive CSS Grid &amp; Flexbox (mobile, tablet, desktop)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Zero horizontal overflow across all 13 application 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5257800" cy="201168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4160519"/>
            <a:ext cx="2011680" cy="228600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22C55E"/>
                </a:solidFill>
                <a:latin typeface="Segoe UI"/>
              </a:defRPr>
            </a:pPr>
            <a:r>
              <a:t>ZERO-DEPENDENCY PURE SVG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80559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Visual Data Graphics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RadarChart.jsx: Pure trigonometric SVG spider chart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  - Concentric polygon grids, vertex indicator dots, labeled axes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PerformanceChart.jsx: Pure SVG line &amp; area chart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  - Smooth cubic-bezier curved paths, glowing data points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Zero external chart libraries (eliminates React 19 version clashes)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977639"/>
            <a:ext cx="5257800" cy="201168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28232" y="4160519"/>
            <a:ext cx="2011680" cy="228600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REACT CONTEXT + WEB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480559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State &amp; Local Persistence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AuthContext: Manages demo user session, level tiers, and streak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InterviewContext: Tracks questions, timers, answers, and evaluations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LocalStorage Keys: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  - interview_ai_history (recent sessions &amp; rubrics)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  - interview_ai_ats_result (latest resume scan data)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  - interview_ai_daily_challenge (streak and habit tracking)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6217920"/>
            <a:ext cx="10728655" cy="36576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236208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⚡ Build Performance: Production bundle compiles cleanly in 1.05s (dist: 82 KB CSS, 495 KB JS) with 0 errors.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USER FLOW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Complete Candidate Preparation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Demonstrating both the primary mock interview journey and the secondary resume audit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728655" cy="237744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1920240"/>
            <a:ext cx="2926080" cy="237744"/>
          </a:xfrm>
          <a:prstGeom prst="roundRect">
            <a:avLst/>
          </a:prstGeom>
          <a:solidFill>
            <a:srgbClr val="231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PRIMARY JOURNEY: MOCK INTERVIEW TO HABIT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331720"/>
            <a:ext cx="1170432" cy="155448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01. Landing</a:t>
            </a:r>
          </a:p>
          <a:p>
            <a:pPr algn="ctr">
              <a:defRPr sz="850">
                <a:solidFill>
                  <a:srgbClr val="A5B4FC"/>
                </a:solidFill>
                <a:latin typeface="Segoe UI"/>
              </a:defRPr>
            </a:pPr>
            <a:r>
              <a:t>Hero &amp; CTA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6856" y="2331720"/>
            <a:ext cx="1170432" cy="155448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76856" y="2468880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02. Setup</a:t>
            </a:r>
          </a:p>
          <a:p>
            <a:pPr algn="ctr">
              <a:defRPr sz="850">
                <a:solidFill>
                  <a:srgbClr val="A5B4FC"/>
                </a:solidFill>
                <a:latin typeface="Segoe UI"/>
              </a:defRPr>
            </a:pPr>
            <a:r>
              <a:t>Role &amp; 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872" y="2331720"/>
            <a:ext cx="1170432" cy="155448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2468880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03. Ready</a:t>
            </a:r>
          </a:p>
          <a:p>
            <a:pPr algn="ctr">
              <a:defRPr sz="850">
                <a:solidFill>
                  <a:srgbClr val="A5B4FC"/>
                </a:solidFill>
                <a:latin typeface="Segoe UI"/>
              </a:defRPr>
            </a:pPr>
            <a:r>
              <a:t>Rubric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18888" y="2331720"/>
            <a:ext cx="1170432" cy="155448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8888" y="2468880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04. Mock</a:t>
            </a:r>
          </a:p>
          <a:p>
            <a:pPr algn="ctr">
              <a:defRPr sz="850">
                <a:solidFill>
                  <a:srgbClr val="A5B4FC"/>
                </a:solidFill>
                <a:latin typeface="Segoe UI"/>
              </a:defRPr>
            </a:pPr>
            <a:r>
              <a:t>Adaptive Timer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904" y="2331720"/>
            <a:ext cx="1170432" cy="155448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9904" y="2468880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05. Feedback</a:t>
            </a:r>
          </a:p>
          <a:p>
            <a:pPr algn="ctr">
              <a:defRPr sz="850">
                <a:solidFill>
                  <a:srgbClr val="A5B4FC"/>
                </a:solidFill>
                <a:latin typeface="Segoe UI"/>
              </a:defRPr>
            </a:pPr>
            <a:r>
              <a:t>82% Multi-Score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19" y="2331720"/>
            <a:ext cx="1170432" cy="155448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19" y="2468880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06. Skill Gap</a:t>
            </a:r>
          </a:p>
          <a:p>
            <a:pPr algn="ctr">
              <a:defRPr sz="850">
                <a:solidFill>
                  <a:srgbClr val="A5B4FC"/>
                </a:solidFill>
                <a:latin typeface="Segoe UI"/>
              </a:defRPr>
            </a:pPr>
            <a:r>
              <a:t>Radar &amp; Deficits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31936" y="2331720"/>
            <a:ext cx="1170432" cy="155448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31936" y="2468880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07. Daily Drill</a:t>
            </a:r>
          </a:p>
          <a:p>
            <a:pPr algn="ctr">
              <a:defRPr sz="850">
                <a:solidFill>
                  <a:srgbClr val="A5B4FC"/>
                </a:solidFill>
                <a:latin typeface="Segoe UI"/>
              </a:defRPr>
            </a:pPr>
            <a:r>
              <a:t>+50 XP Award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02951" y="2331720"/>
            <a:ext cx="1170432" cy="155448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2951" y="2468880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08. Dashboard</a:t>
            </a:r>
          </a:p>
          <a:p>
            <a:pPr algn="ctr">
              <a:defRPr sz="850">
                <a:solidFill>
                  <a:srgbClr val="A5B4FC"/>
                </a:solidFill>
                <a:latin typeface="Segoe UI"/>
              </a:defRPr>
            </a:pPr>
            <a:r>
              <a:t>Central Command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43400"/>
            <a:ext cx="10728655" cy="219456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5840" y="4480560"/>
            <a:ext cx="2926080" cy="237744"/>
          </a:xfrm>
          <a:prstGeom prst="roundRect">
            <a:avLst/>
          </a:prstGeom>
          <a:solidFill>
            <a:srgbClr val="14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SECONDARY JOURNEY: RESUME AUDIT &amp; GAP REMEDIATION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4892040"/>
            <a:ext cx="1572768" cy="141732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029200"/>
            <a:ext cx="15727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2C55E"/>
                </a:solidFill>
                <a:latin typeface="Segoe UI"/>
              </a:defRPr>
            </a:pPr>
            <a:r>
              <a:t>01. Dashboard</a:t>
            </a:r>
          </a:p>
          <a:p>
            <a:pPr algn="ctr">
              <a:defRPr sz="900">
                <a:solidFill>
                  <a:srgbClr val="A5B4FC"/>
                </a:solidFill>
                <a:latin typeface="Segoe UI"/>
              </a:defRPr>
            </a:pPr>
            <a:r>
              <a:t>Select Resume/ATS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24912" y="4892040"/>
            <a:ext cx="1572768" cy="141732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4912" y="5029200"/>
            <a:ext cx="15727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2C55E"/>
                </a:solidFill>
                <a:latin typeface="Segoe UI"/>
              </a:defRPr>
            </a:pPr>
            <a:r>
              <a:t>02. ATS Scanner</a:t>
            </a:r>
          </a:p>
          <a:p>
            <a:pPr algn="ctr">
              <a:defRPr sz="900">
                <a:solidFill>
                  <a:srgbClr val="A5B4FC"/>
                </a:solidFill>
                <a:latin typeface="Segoe UI"/>
              </a:defRPr>
            </a:pPr>
            <a:r>
              <a:t>Upload PDF &amp; Job Desc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3983" y="4892040"/>
            <a:ext cx="1572768" cy="141732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43983" y="5029200"/>
            <a:ext cx="15727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2C55E"/>
                </a:solidFill>
                <a:latin typeface="Segoe UI"/>
              </a:defRPr>
            </a:pPr>
            <a:r>
              <a:t>03. Audit Report</a:t>
            </a:r>
          </a:p>
          <a:p>
            <a:pPr algn="ctr">
              <a:defRPr sz="900">
                <a:solidFill>
                  <a:srgbClr val="A5B4FC"/>
                </a:solidFill>
                <a:latin typeface="Segoe UI"/>
              </a:defRPr>
            </a:pPr>
            <a:r>
              <a:t>84/100 Keyword Match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3056" y="4892040"/>
            <a:ext cx="1572768" cy="141732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63056" y="5029200"/>
            <a:ext cx="15727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2C55E"/>
                </a:solidFill>
                <a:latin typeface="Segoe UI"/>
              </a:defRPr>
            </a:pPr>
            <a:r>
              <a:t>04. Missing Terms</a:t>
            </a:r>
          </a:p>
          <a:p>
            <a:pPr algn="ctr">
              <a:defRPr sz="900">
                <a:solidFill>
                  <a:srgbClr val="A5B4FC"/>
                </a:solidFill>
                <a:latin typeface="Segoe UI"/>
              </a:defRPr>
            </a:pPr>
            <a:r>
              <a:t>Detect Cloud/Docker Gap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82127" y="4892040"/>
            <a:ext cx="1572768" cy="141732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5029200"/>
            <a:ext cx="15727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2C55E"/>
                </a:solidFill>
                <a:latin typeface="Segoe UI"/>
              </a:defRPr>
            </a:pPr>
            <a:r>
              <a:t>05. Skill Gap</a:t>
            </a:r>
          </a:p>
          <a:p>
            <a:pPr algn="ctr">
              <a:defRPr sz="900">
                <a:solidFill>
                  <a:srgbClr val="A5B4FC"/>
                </a:solidFill>
                <a:latin typeface="Segoe UI"/>
              </a:defRPr>
            </a:pPr>
            <a:r>
              <a:t>Prioritize Weak Areas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199" y="4892040"/>
            <a:ext cx="1572768" cy="141732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199" y="5029200"/>
            <a:ext cx="15727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2C55E"/>
                </a:solidFill>
                <a:latin typeface="Segoe UI"/>
              </a:defRPr>
            </a:pPr>
            <a:r>
              <a:t>06. Practice Drill</a:t>
            </a:r>
          </a:p>
          <a:p>
            <a:pPr algn="ctr">
              <a:defRPr sz="900">
                <a:solidFill>
                  <a:srgbClr val="A5B4FC"/>
                </a:solidFill>
                <a:latin typeface="Segoe UI"/>
              </a:defRPr>
            </a:pPr>
            <a:r>
              <a:t>Resolve Identified Deficit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CORE MODULE 1: INTERVIEW &amp;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Simulating Realistic Technical Interviews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Timed candidate response recording paired with multi-dimension rubric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011680"/>
            <a:ext cx="2011680" cy="237744"/>
          </a:xfrm>
          <a:prstGeom prst="roundRect">
            <a:avLst/>
          </a:prstGeom>
          <a:solidFill>
            <a:srgbClr val="231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MOCK INTERVIEW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⏱️  Per-Question Timer: </a:t>
            </a:r>
            <a:r>
              <a:rPr sz="1000" b="0">
                <a:solidFill>
                  <a:srgbClr val="A5B4FC"/>
                </a:solidFill>
                <a:latin typeface="Segoe UI"/>
              </a:rPr>
              <a:t>Active 3:00 minute countdown per question enforcing concise articulation under pressure.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⏱️  Progression &amp; Word Counter: </a:t>
            </a:r>
            <a:r>
              <a:rPr sz="1000" b="0">
                <a:solidFill>
                  <a:srgbClr val="A5B4FC"/>
                </a:solidFill>
                <a:latin typeface="Segoe UI"/>
              </a:rPr>
              <a:t>Tracks 'Question X of Y' progression with real-time response length validation.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⏱️  Domain Question Banks: </a:t>
            </a:r>
            <a:r>
              <a:rPr sz="1000" b="0">
                <a:solidFill>
                  <a:srgbClr val="A5B4FC"/>
                </a:solidFill>
                <a:latin typeface="Segoe UI"/>
              </a:rPr>
              <a:t>Curated technical, behavioral (STAR), HR, and role-based prompts across 6 tracks.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⏱️  Adaptive Pacing Triggers: </a:t>
            </a:r>
            <a:r>
              <a:rPr sz="1000" b="0">
                <a:solidFill>
                  <a:srgbClr val="A5B4FC"/>
                </a:solidFill>
                <a:latin typeface="Segoe UI"/>
              </a:rPr>
              <a:t>Scores ≥8.0 escalate difficulty to Advanced; scores &lt;6.5 trigger foundational checks.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⏱️  Voice Mode Signposting: </a:t>
            </a:r>
            <a:r>
              <a:rPr sz="1000" b="0">
                <a:solidFill>
                  <a:srgbClr val="A5B4FC"/>
                </a:solidFill>
                <a:latin typeface="Segoe UI"/>
              </a:rPr>
              <a:t>Transparently marked as '🎤 Voice Mode — Coming Soon' (Phase 2 scope boundary).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2011680"/>
            <a:ext cx="2011680" cy="237744"/>
          </a:xfrm>
          <a:prstGeom prst="roundRect">
            <a:avLst/>
          </a:prstGeom>
          <a:solidFill>
            <a:srgbClr val="14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FEEDBACK &amp; PERFORMANCE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📊  Composite Score Gauge: </a:t>
            </a:r>
            <a:r>
              <a:rPr sz="1000" b="0">
                <a:solidFill>
                  <a:srgbClr val="A5B4FC"/>
                </a:solidFill>
                <a:latin typeface="Segoe UI"/>
              </a:rPr>
              <a:t>Generates overall score (e.g. 82/100) with circular SVG visual progress ring.</a:t>
            </a:r>
          </a:p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📊  5 Evaluation Rubric Axes: </a:t>
            </a:r>
            <a:r>
              <a:rPr sz="1000" b="0">
                <a:solidFill>
                  <a:srgbClr val="A5B4FC"/>
                </a:solidFill>
                <a:latin typeface="Segoe UI"/>
              </a:rPr>
              <a:t>Scored across Technical Knowledge (86%), Problem Solving (79%), STAR (84%), Relevance (88%), Confidence (76%).</a:t>
            </a:r>
          </a:p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📊  Candidate Accordion: </a:t>
            </a:r>
            <a:r>
              <a:rPr sz="1000" b="0">
                <a:solidFill>
                  <a:srgbClr val="A5B4FC"/>
                </a:solidFill>
                <a:latin typeface="Segoe UI"/>
              </a:rPr>
              <a:t>Expandable breakdown showing questions, submitted text, and rubric feedback.</a:t>
            </a:r>
          </a:p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📊  Agent Decision Timeline: </a:t>
            </a:r>
            <a:r>
              <a:rPr sz="1000" b="0">
                <a:solidFill>
                  <a:srgbClr val="A5B4FC"/>
                </a:solidFill>
                <a:latin typeface="Segoe UI"/>
              </a:rPr>
              <a:t>5-step transparent visualization from Response Evaluated to Practice Recommended.</a:t>
            </a:r>
          </a:p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📊  Actionable Next Steps: </a:t>
            </a:r>
            <a:r>
              <a:rPr sz="1000" b="0">
                <a:solidFill>
                  <a:srgbClr val="A5B4FC"/>
                </a:solidFill>
                <a:latin typeface="Segoe UI"/>
              </a:rPr>
              <a:t>Direct routing into Skill Gap Analyzer and personalized high-yield drills.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1081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🎯 Academic Integrity: Evaluator utilizes deterministic multi-metric scoring rules rather than pretending a production neural LLM is running.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CORE MODULE 2: ATS 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Resume Intelligence &amp; Keyword Auditing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Simulated Applicant Tracking System audit matching candidate credentials to job descriptions.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011680"/>
            <a:ext cx="2011680" cy="237744"/>
          </a:xfrm>
          <a:prstGeom prst="roundRect">
            <a:avLst/>
          </a:prstGeom>
          <a:solidFill>
            <a:srgbClr val="231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ATS PARSING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📄  Resume Ingestion Dropzone: </a:t>
            </a:r>
            <a:r>
              <a:rPr sz="1000" b="0">
                <a:solidFill>
                  <a:srgbClr val="A5B4FC"/>
                </a:solidFill>
                <a:latin typeface="Segoe UI"/>
              </a:rPr>
              <a:t>Accepts PDF/DOCX resumes (simulated extraction of Alex_Rivera_Resume.pdf).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📄  Job Description Input: </a:t>
            </a:r>
            <a:r>
              <a:rPr sz="1000" b="0">
                <a:solidFill>
                  <a:srgbClr val="A5B4FC"/>
                </a:solidFill>
                <a:latin typeface="Segoe UI"/>
              </a:rPr>
              <a:t>Editable textarea for pasting target engineering job specs and requirements.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📄  Prototype Parsing Engine: </a:t>
            </a:r>
            <a:r>
              <a:rPr sz="1000" b="0">
                <a:solidFill>
                  <a:srgbClr val="A5B4FC"/>
                </a:solidFill>
                <a:latin typeface="Segoe UI"/>
              </a:rPr>
              <a:t>Simulates tokenization and semantic dictionary cross-referencing.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📄  Overall Compatibility Score: </a:t>
            </a:r>
            <a:r>
              <a:rPr sz="1000" b="0">
                <a:solidFill>
                  <a:srgbClr val="A5B4FC"/>
                </a:solidFill>
                <a:latin typeface="Segoe UI"/>
              </a:rPr>
              <a:t>Outputs an 84/100 composite ATS readiness score with circular gauge.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📄  LocalStorage Persistence: </a:t>
            </a:r>
            <a:r>
              <a:rPr sz="1000" b="0">
                <a:solidFill>
                  <a:srgbClr val="A5B4FC"/>
                </a:solidFill>
                <a:latin typeface="Segoe UI"/>
              </a:rPr>
              <a:t>Saves audit results (interview_ai_ats_result) for instant Dashboard display.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2011680"/>
            <a:ext cx="2194560" cy="237744"/>
          </a:xfrm>
          <a:prstGeom prst="roundRect">
            <a:avLst/>
          </a:prstGeom>
          <a:solidFill>
            <a:srgbClr val="14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KEYWORD AUDIT BREAKDOWN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🔍  Granular Sub-Metrics: </a:t>
            </a:r>
            <a:r>
              <a:rPr sz="1000" b="0">
                <a:solidFill>
                  <a:srgbClr val="A5B4FC"/>
                </a:solidFill>
                <a:latin typeface="Segoe UI"/>
              </a:rPr>
              <a:t>Keyword Match (91%), Skills Alignment (88%), Formatting (76%), Project Impact (72%), Experience Match (82%).</a:t>
            </a:r>
          </a:p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🔍  Matched Keywords (13): </a:t>
            </a:r>
            <a:r>
              <a:rPr sz="1000" b="0">
                <a:solidFill>
                  <a:srgbClr val="A5B4FC"/>
                </a:solidFill>
                <a:latin typeface="Segoe UI"/>
              </a:rPr>
              <a:t>✓ Python, PyTorch, Scikit-Learn, NLP, Model Training, Git, Pandas, NumPy...</a:t>
            </a:r>
          </a:p>
          <a:p>
            <a:pPr>
              <a:spcAft>
                <a:spcPts val="600"/>
              </a:spcAft>
              <a:defRPr sz="1100" b="1">
                <a:solidFill>
                  <a:srgbClr val="EC4899"/>
                </a:solidFill>
                <a:latin typeface="Segoe UI"/>
              </a:defRPr>
            </a:pPr>
            <a:r>
              <a:t>🔍  Missing Critical Keywords (5): </a:t>
            </a:r>
            <a:r>
              <a:rPr sz="1000" b="0">
                <a:solidFill>
                  <a:srgbClr val="A5B4FC"/>
                </a:solidFill>
                <a:latin typeface="Segoe UI"/>
              </a:rPr>
              <a:t>⚠️ Docker, AWS SageMaker, Kubernetes, MLflow, CI/CD Pipelines (High Priority)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🔍  Recommended Keywords: </a:t>
            </a:r>
            <a:r>
              <a:rPr sz="1000" b="0">
                <a:solidFill>
                  <a:srgbClr val="A5B4FC"/>
                </a:solidFill>
                <a:latin typeface="Segoe UI"/>
              </a:rPr>
              <a:t>⚡ Distributed Training, Latency Optimization, ONNX/TensorRT, Feature Stores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🔍  Honest Academic Guidance: </a:t>
            </a:r>
            <a:r>
              <a:rPr sz="1000" b="0">
                <a:solidFill>
                  <a:srgbClr val="A5B4FC"/>
                </a:solidFill>
                <a:latin typeface="Segoe UI"/>
              </a:rPr>
              <a:t>Explicitly advises candidates: 'Add relevant keywords only when they accurately represent your skills.' Labeled as Prototype ATS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1081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💡 ATS Connection: Uncovered missing keywords directly feed into the Skill Gap Analyzer to prioritize interview question topics.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CORE MODULE 3: SKILL GAP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Identifying &amp; Resolving Competency Deficits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Trigonometric 6-axis SVG radar visualization coupled with dynamic bottleneck ranking.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011680"/>
            <a:ext cx="2194560" cy="237744"/>
          </a:xfrm>
          <a:prstGeom prst="roundRect">
            <a:avLst/>
          </a:prstGeom>
          <a:solidFill>
            <a:srgbClr val="231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COMPETENCY MATRIX &amp;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🎯  8 Core Engineering Skills</a:t>
            </a:r>
            <a:br/>
            <a:r>
              <a:rPr sz="1000" b="0">
                <a:solidFill>
                  <a:srgbClr val="A5B4FC"/>
                </a:solidFill>
                <a:latin typeface="Segoe UI"/>
              </a:rPr>
              <a:t>ML (86%), Python (82%), Communication (78%), Problem Solving (74%), Behavioral (70%), Confidence (68%), SQL (64%), System Design (61%).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🎯  3-Tier Status Classification</a:t>
            </a:r>
            <a:br/>
            <a:r>
              <a:rPr sz="1000" b="0">
                <a:solidFill>
                  <a:srgbClr val="A5B4FC"/>
                </a:solidFill>
                <a:latin typeface="Segoe UI"/>
              </a:rPr>
              <a:t>• Strong (≥80%): Above market hiring bar
• Needs Practice (65–79%): Inconsistent under pressure
• Priority (&lt;65%): Critical hiring risk bottleneck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🎯  Zero-Dependency SVG Radar</a:t>
            </a:r>
            <a:br/>
            <a:r>
              <a:rPr sz="1000" b="0">
                <a:solidFill>
                  <a:srgbClr val="A5B4FC"/>
                </a:solidFill>
                <a:latin typeface="Segoe UI"/>
              </a:rPr>
              <a:t>Mathematical 6-axis spider chart with concentric web polygons, radial gradient fill, and vertex indicator points.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🎯  Historical Calibration</a:t>
            </a:r>
            <a:br/>
            <a:r>
              <a:rPr sz="1000" b="0">
                <a:solidFill>
                  <a:srgbClr val="A5B4FC"/>
                </a:solidFill>
                <a:latin typeface="Segoe UI"/>
              </a:rPr>
              <a:t>Reflects +6% readiness increase (72% ➔ 78%) compared to diagnostic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2011680"/>
            <a:ext cx="2194560" cy="237744"/>
          </a:xfrm>
          <a:prstGeom prst="roundRect">
            <a:avLst/>
          </a:prstGeom>
          <a:solidFill>
            <a:srgbClr val="14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BOTTLENECKS &amp; LEARNING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📈  Top 3 Skill Gaps Isolated</a:t>
            </a:r>
            <a:br/>
            <a:r>
              <a:rPr sz="1000" b="0">
                <a:solidFill>
                  <a:srgbClr val="A5B4FC"/>
                </a:solidFill>
                <a:latin typeface="Segoe UI"/>
              </a:rPr>
              <a:t>#1 System Design (61% Priority: High)
#2 SQL &amp; Data (64% Priority: High)
#3 Delivery Confidence (68% Priority: Medium)</a:t>
            </a:r>
          </a:p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📈  Contextual Rationale</a:t>
            </a:r>
            <a:br/>
            <a:r>
              <a:rPr sz="1000" b="0">
                <a:solidFill>
                  <a:srgbClr val="A5B4FC"/>
                </a:solidFill>
                <a:latin typeface="Segoe UI"/>
              </a:rPr>
              <a:t>Explains WHY each deficit impacts hiring outcomes and prescribes exact remedial drills.</a:t>
            </a:r>
          </a:p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📈  4-Step Personalized Path</a:t>
            </a:r>
            <a:br/>
            <a:r>
              <a:rPr sz="1000" b="0">
                <a:solidFill>
                  <a:srgbClr val="A5B4FC"/>
                </a:solidFill>
                <a:latin typeface="Segoe UI"/>
              </a:rPr>
              <a:t>Sequential preparation roadmap with Step 1 highlighted ('Recommended Now: System Design Foundations').</a:t>
            </a:r>
          </a:p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📈  Prevents Redundant Practice</a:t>
            </a:r>
            <a:br/>
            <a:r>
              <a:rPr sz="1000" b="0">
                <a:solidFill>
                  <a:srgbClr val="A5B4FC"/>
                </a:solidFill>
                <a:latin typeface="Segoe UI"/>
              </a:rPr>
              <a:t>Agent filters out strong skills (e.g. ML 86%) to focus candidate energy solely on offer-blocking weaknesses.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1081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🤖 Agent Decision: SortAscending(Skills) isolates System Design as lowest proficiency ➔ Injects targeted practice into Dashboard CTA.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CONSISTENCY &amp; HABIT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Gamification: Daily Challenge, Streak &amp; XP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Driving consistent student preparation via gamified milestones, levels, and achievements.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56432" cy="3977639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011680"/>
            <a:ext cx="1828800" cy="237744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A855F7"/>
                </a:solidFill>
                <a:latin typeface="Segoe UI"/>
              </a:defRPr>
            </a:pPr>
            <a:r>
              <a:t>HABIT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7744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Daily Challenge Module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Daily conceptual articulation question: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  'Explain Supervised vs. Unsupervised Learning'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Integrated 5-minute countdown timer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High-scoring sample response auto-fill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Instant deterministic evaluator feedback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Awards +50 XP and maintains active streak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3456432" cy="3977639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9432" y="2011680"/>
            <a:ext cx="1828800" cy="237744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06B6D4"/>
                </a:solidFill>
                <a:latin typeface="Segoe UI"/>
              </a:defRPr>
            </a:pPr>
            <a:r>
              <a:t>GAMIFIED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7744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Streak &amp; Level System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7-Day active streak tracker with daily checks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  (M  T  W  T  F  S  S)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Calibrated Level Formula: 500 XP per tier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  - Level 1: 0–499 XP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  - Level 2: 500–999 XP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  - Level 3: 1000–1499 XP (Current: L12 @ 1240 XP)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Progress bars track distance to next level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456432" cy="3977639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8744" y="2011680"/>
            <a:ext cx="1828800" cy="237744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22C55E"/>
                </a:solidFill>
                <a:latin typeface="Segoe UI"/>
              </a:defRPr>
            </a:pPr>
            <a:r>
              <a:t>MILESTONE UNLOCKS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Dynamic Achievements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• Honest badge unlock state linked to local activity: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  ✓ First Interview (Completed mock session)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  ✓ 7-Day Streak (Active 7 consecutive days)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  ✓ Resume Optimizer (ATS scan audited)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  ✓ Practice Champion (Daily drill solved)</a:t>
            </a:r>
          </a:p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  🔒 30-Day Streak (Progress 23%)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61081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A5B4FC"/>
                </a:solidFill>
                <a:latin typeface="Segoe UI"/>
              </a:defRPr>
            </a:pPr>
            <a:r>
              <a:t>💾 Lightweight Architecture: All gamification progress persists in browser localStorage without requiring a heavy backend database.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DASHBOARD &amp; PROGRESS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Centralized Candidate Control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The focal hub synthesizing interview performance, skill gaps, ATS audits, and longitudinal progress.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011680"/>
            <a:ext cx="2194560" cy="237744"/>
          </a:xfrm>
          <a:prstGeom prst="roundRect">
            <a:avLst/>
          </a:prstGeom>
          <a:solidFill>
            <a:srgbClr val="231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MAIN DASHBOARD HUB (/DASHBOARD)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🎛️  Four Core Candidate Metric Cards: </a:t>
            </a:r>
            <a:r>
              <a:rPr sz="1000" b="0">
                <a:solidFill>
                  <a:srgbClr val="A5B4FC"/>
                </a:solidFill>
                <a:latin typeface="Segoe UI"/>
              </a:rPr>
              <a:t>Streak (7 Days), Total XP (1,240), Readiness (78%), and ATS Score (84/100).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🎛️  AI Coach Recommendation Card: </a:t>
            </a:r>
            <a:r>
              <a:rPr sz="1000" b="0">
                <a:solidFill>
                  <a:srgbClr val="A5B4FC"/>
                </a:solidFill>
                <a:latin typeface="Segoe UI"/>
              </a:rPr>
              <a:t>Prominent card prescribing 'Focus on Confidence &amp; Problem Solving' with expandable 'Why this recommendation?' rationale drawer.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🎛️  Interactive Practice Plan: </a:t>
            </a:r>
            <a:r>
              <a:rPr sz="1000" b="0">
                <a:solidFill>
                  <a:srgbClr val="A5B4FC"/>
                </a:solidFill>
                <a:latin typeface="Segoe UI"/>
              </a:rPr>
              <a:t>Task checklist showing 2/3 completed (67% progress) with live toggle and XP awards.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🎛️  Clickable Recent Interviews: </a:t>
            </a:r>
            <a:r>
              <a:rPr sz="1000" b="0">
                <a:solidFill>
                  <a:srgbClr val="A5B4FC"/>
                </a:solidFill>
                <a:latin typeface="Segoe UI"/>
              </a:rPr>
              <a:t>Direct routing to historical evaluation feedback reports.</a:t>
            </a:r>
          </a:p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🎛️  AI Agent Active Indicator: </a:t>
            </a:r>
            <a:r>
              <a:rPr sz="1000" b="0">
                <a:solidFill>
                  <a:srgbClr val="A5B4FC"/>
                </a:solidFill>
                <a:latin typeface="Segoe UI"/>
              </a:rPr>
              <a:t>Pulsing emerald status badge reminding user of active coaching intelligence.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2011680"/>
            <a:ext cx="2194560" cy="237744"/>
          </a:xfrm>
          <a:prstGeom prst="roundRect">
            <a:avLst/>
          </a:prstGeom>
          <a:solidFill>
            <a:srgbClr val="14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PROGRESS ANALYTICS (/PROGRESS)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📈  Score Progression Line Chart: </a:t>
            </a:r>
            <a:r>
              <a:rPr sz="1000" b="0">
                <a:solidFill>
                  <a:srgbClr val="A5B4FC"/>
                </a:solidFill>
                <a:latin typeface="Segoe UI"/>
              </a:rPr>
              <a:t>Visualizes exact interview score growth: Interview 1 (68) ➔ Int 2 (72) ➔ Int 3 (75) ➔ Int 4 (78) ➔ Current (82).</a:t>
            </a:r>
          </a:p>
          <a:p>
            <a:pPr>
              <a:spcAft>
                <a:spcPts val="8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📈  +14 Point Trajectory Net Gain: </a:t>
            </a:r>
            <a:r>
              <a:rPr sz="1000" b="0">
                <a:solidFill>
                  <a:srgbClr val="A5B4FC"/>
                </a:solidFill>
                <a:latin typeface="Segoe UI"/>
              </a:rPr>
              <a:t>Clearly highlights transition from diagnostic baseline to target offer readiness threshold.</a:t>
            </a:r>
          </a:p>
          <a:p>
            <a:pPr>
              <a:spcAft>
                <a:spcPts val="8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📈  4-Week Bar Chart Trajectory: </a:t>
            </a:r>
            <a:r>
              <a:rPr sz="1000" b="0">
                <a:solidFill>
                  <a:srgbClr val="A5B4FC"/>
                </a:solidFill>
                <a:latin typeface="Segoe UI"/>
              </a:rPr>
              <a:t>Visual composite tracking across Week 1 (68%) through Week 4 (82%).</a:t>
            </a:r>
          </a:p>
          <a:p>
            <a:pPr>
              <a:spcAft>
                <a:spcPts val="8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📈  Competency Delta Indicators: </a:t>
            </a:r>
            <a:r>
              <a:rPr sz="1000" b="0">
                <a:solidFill>
                  <a:srgbClr val="A5B4FC"/>
                </a:solidFill>
                <a:latin typeface="Segoe UI"/>
              </a:rPr>
              <a:t>+12% Technical Knowledge, +8% Communication (STAR), +14% Confidence &amp;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1081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🔄 Dynamic Synthesis: When a user finishes a mock interview or ATS scan, the Dashboard immediately updates without page reloads.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SYSTEM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Academic Honesty: Implemented vs.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A rigorous, transparent comparison between what is built today and what belongs to Phase 2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011680"/>
            <a:ext cx="2377440" cy="237744"/>
          </a:xfrm>
          <a:prstGeom prst="roundRect">
            <a:avLst/>
          </a:prstGeom>
          <a:solidFill>
            <a:srgbClr val="19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22C55E"/>
                </a:solidFill>
                <a:latin typeface="Segoe UI"/>
              </a:defRPr>
            </a:pPr>
            <a:r>
              <a:t>IMPLEMENTED IN PROTOTYPE (16 FEATURES)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Full React 19 + Vite Frontend with 13 Connected Routes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Futuristic Purple + Cyan AI SaaS Design &amp; Glassmorphic Cards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Multi-Track Interview Setup (6 Domains, 4 Types, 3 Tiers)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Timed Mock Interview Simulator with Adaptive Question Difficulty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Deterministic Multi-Metric Scoring Engine (5 Rubric Axes)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Automated Interview Feedback Report &amp; Accordion Transcripts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Visible 5-Step Agent Decision Timeline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Skill Gap Analyzer with Zero-Dependency 6-Axis SVG Radar Chart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Dynamic Top 3 Bottleneck Ranking &amp; 4-Step Preparation Path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Simulated ATS Scanner with Keyword Match vs Missing Analysis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Daily Challenge System ('Supervised vs. Unsupervised Learning')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Streak Tracking (7-Day Checkmark Bar) &amp; Level Progression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Centralized Command Dashboard with AI Coach Recommendations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Longitudinal Score Progression Chart (+14 Points Trajectory)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Dynamic Gamified Achievement Badge Milestone Unlocks</a:t>
            </a:r>
          </a:p>
          <a:p>
            <a:pPr>
              <a:spcAft>
                <a:spcPts val="200"/>
              </a:spcAft>
              <a:defRPr sz="880">
                <a:solidFill>
                  <a:srgbClr val="F8FAFC"/>
                </a:solidFill>
                <a:latin typeface="Segoe UI"/>
              </a:defRPr>
            </a:pPr>
            <a:r>
              <a:t>✓  Client-Side State Persistence via Browser LocalStorage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41834"/>
          </a:solidFill>
          <a:ln w="1905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2011680"/>
            <a:ext cx="2377440" cy="237744"/>
          </a:xfrm>
          <a:prstGeom prst="roundRect">
            <a:avLst/>
          </a:prstGeom>
          <a:solidFill>
            <a:srgbClr val="28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F59E0B"/>
                </a:solidFill>
                <a:latin typeface="Segoe UI"/>
              </a:defRPr>
            </a:pPr>
            <a:r>
              <a:t>FUTURE SCOPE ROADMAP (PHASE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5B4FC"/>
                </a:solidFill>
                <a:latin typeface="Segoe UI"/>
              </a:defRPr>
            </a:pPr>
            <a:r>
              <a:t>→  Real LLM Integration (Gemini 2.5 Flash via @google/genai SDK)</a:t>
            </a:r>
          </a:p>
          <a:p>
            <a:pPr>
              <a:spcAft>
                <a:spcPts val="400"/>
              </a:spcAft>
              <a:defRPr sz="950">
                <a:solidFill>
                  <a:srgbClr val="A5B4FC"/>
                </a:solidFill>
                <a:latin typeface="Segoe UI"/>
              </a:defRPr>
            </a:pPr>
            <a:r>
              <a:t>→  Real-Time Bidirectional Voice Interviewer (Gemini Live API)</a:t>
            </a:r>
          </a:p>
          <a:p>
            <a:pPr>
              <a:spcAft>
                <a:spcPts val="400"/>
              </a:spcAft>
              <a:defRPr sz="950">
                <a:solidFill>
                  <a:srgbClr val="A5B4FC"/>
                </a:solidFill>
                <a:latin typeface="Segoe UI"/>
              </a:defRPr>
            </a:pPr>
            <a:r>
              <a:t>→  Native Speech-to-Text (STT) &amp; Text-to-Speech (TTS) Pipeline</a:t>
            </a:r>
          </a:p>
          <a:p>
            <a:pPr>
              <a:spcAft>
                <a:spcPts val="400"/>
              </a:spcAft>
              <a:defRPr sz="950">
                <a:solidFill>
                  <a:srgbClr val="A5B4FC"/>
                </a:solidFill>
                <a:latin typeface="Segoe UI"/>
              </a:defRPr>
            </a:pPr>
            <a:r>
              <a:t>→  Speech Emotion Recognition (Pitch, Cadence, Tone Analysis)</a:t>
            </a:r>
          </a:p>
          <a:p>
            <a:pPr>
              <a:spcAft>
                <a:spcPts val="400"/>
              </a:spcAft>
              <a:defRPr sz="950">
                <a:solidFill>
                  <a:srgbClr val="A5B4FC"/>
                </a:solidFill>
                <a:latin typeface="Segoe UI"/>
              </a:defRPr>
            </a:pPr>
            <a:r>
              <a:t>→  Computer Vision Gesture &amp; Facial Expression Assessment</a:t>
            </a:r>
          </a:p>
          <a:p>
            <a:pPr>
              <a:spcAft>
                <a:spcPts val="400"/>
              </a:spcAft>
              <a:defRPr sz="950">
                <a:solidFill>
                  <a:srgbClr val="A5B4FC"/>
                </a:solidFill>
                <a:latin typeface="Segoe UI"/>
              </a:defRPr>
            </a:pPr>
            <a:r>
              <a:t>→  Eye-Contact &amp; Gaze Tracking using WebRTC Video Feeds</a:t>
            </a:r>
          </a:p>
          <a:p>
            <a:pPr>
              <a:spcAft>
                <a:spcPts val="400"/>
              </a:spcAft>
              <a:defRPr sz="950">
                <a:solidFill>
                  <a:srgbClr val="A5B4FC"/>
                </a:solidFill>
                <a:latin typeface="Segoe UI"/>
              </a:defRPr>
            </a:pPr>
            <a:r>
              <a:t>→  Deep Semantic Answer Similarity &amp; Knowledge Graph Traversal</a:t>
            </a:r>
          </a:p>
          <a:p>
            <a:pPr>
              <a:spcAft>
                <a:spcPts val="400"/>
              </a:spcAft>
              <a:defRPr sz="950">
                <a:solidFill>
                  <a:srgbClr val="A5B4FC"/>
                </a:solidFill>
                <a:latin typeface="Segoe UI"/>
              </a:defRPr>
            </a:pPr>
            <a:r>
              <a:t>→  Production Enterprise ATS Parser with Vector DB Indexing</a:t>
            </a:r>
          </a:p>
          <a:p>
            <a:pPr>
              <a:spcAft>
                <a:spcPts val="400"/>
              </a:spcAft>
              <a:defRPr sz="950">
                <a:solidFill>
                  <a:srgbClr val="A5B4FC"/>
                </a:solidFill>
                <a:latin typeface="Segoe UI"/>
              </a:defRPr>
            </a:pPr>
            <a:r>
              <a:t>→  Cloud PostgreSQL Database with Multi-Tenant Candidate Sync</a:t>
            </a:r>
          </a:p>
          <a:p>
            <a:pPr>
              <a:spcAft>
                <a:spcPts val="400"/>
              </a:spcAft>
              <a:defRPr sz="950">
                <a:solidFill>
                  <a:srgbClr val="A5B4FC"/>
                </a:solidFill>
                <a:latin typeface="Segoe UI"/>
              </a:defRPr>
            </a:pPr>
            <a:r>
              <a:t>→  Production OAuth 2.0 / Firebase Security Authentication</a:t>
            </a:r>
          </a:p>
          <a:p>
            <a:pPr>
              <a:spcAft>
                <a:spcPts val="400"/>
              </a:spcAft>
              <a:defRPr sz="950">
                <a:solidFill>
                  <a:srgbClr val="A5B4FC"/>
                </a:solidFill>
                <a:latin typeface="Segoe UI"/>
              </a:defRPr>
            </a:pPr>
            <a:r>
              <a:t>→  Automated Video Mock Playback with Timestamped Criticisms</a:t>
            </a:r>
          </a:p>
          <a:p>
            <a:pPr>
              <a:spcAft>
                <a:spcPts val="400"/>
              </a:spcAft>
              <a:defRPr sz="950">
                <a:solidFill>
                  <a:srgbClr val="A5B4FC"/>
                </a:solidFill>
                <a:latin typeface="Segoe UI"/>
              </a:defRPr>
            </a:pPr>
            <a:r>
              <a:t>→  Cohort Peer Benchmarking and Global University Leaderboards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1081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🛡️ Scope Boundary: Advanced enterprise telemetry and cloud data warehouse connectors are planned for future engineering iterations.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CRITICAL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Critical Evaluation: Advantages &amp;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An honest engineering appraisal of prototype strengths and operational limitations.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191A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011680"/>
            <a:ext cx="2011680" cy="237744"/>
          </a:xfrm>
          <a:prstGeom prst="roundRect">
            <a:avLst/>
          </a:prstGeom>
          <a:solidFill>
            <a:srgbClr val="14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PROTOTYPE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🌟  Unified Ecosystem: </a:t>
            </a:r>
            <a:r>
              <a:rPr sz="1000" b="0">
                <a:solidFill>
                  <a:srgbClr val="F8FAFC"/>
                </a:solidFill>
                <a:latin typeface="Segoe UI"/>
              </a:rPr>
              <a:t>Connects resume auditing, mock interviewing, and skill gap remediation in a single fluid application.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🌟  Agentic Continuous Loop: </a:t>
            </a:r>
            <a:r>
              <a:rPr sz="1000" b="0">
                <a:solidFill>
                  <a:srgbClr val="F8FAFC"/>
                </a:solidFill>
                <a:latin typeface="Segoe UI"/>
              </a:rPr>
              <a:t>Replaces passive question dumping with an active coach that prescribes high-yield actions based on evaluated deficits.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🌟  High Visual Engagement: </a:t>
            </a:r>
            <a:r>
              <a:rPr sz="1000" b="0">
                <a:solidFill>
                  <a:srgbClr val="F8FAFC"/>
                </a:solidFill>
                <a:latin typeface="Segoe UI"/>
              </a:rPr>
              <a:t>Futuristic AI theme with responsive dark-mode cards, glowing indicators, and zero-dependency SVG charts.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🌟  Gamified Habit Formation: </a:t>
            </a:r>
            <a:r>
              <a:rPr sz="1000" b="0">
                <a:solidFill>
                  <a:srgbClr val="F8FAFC"/>
                </a:solidFill>
                <a:latin typeface="Segoe UI"/>
              </a:rPr>
              <a:t>Streak counters, XP awards, and daily challenges encourage consistent daily preparation.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🌟  Zero Latency &amp; Cost: </a:t>
            </a:r>
            <a:r>
              <a:rPr sz="1000" b="0">
                <a:solidFill>
                  <a:srgbClr val="F8FAFC"/>
                </a:solidFill>
                <a:latin typeface="Segoe UI"/>
              </a:rPr>
              <a:t>Runs entirely client-side without external API downtime, cloud bills, or backend infrastructure failures.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41834"/>
          </a:solidFill>
          <a:ln w="1905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2011680"/>
            <a:ext cx="2011680" cy="237744"/>
          </a:xfrm>
          <a:prstGeom prst="roundRect">
            <a:avLst/>
          </a:prstGeom>
          <a:solidFill>
            <a:srgbClr val="28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EC4899"/>
                </a:solidFill>
                <a:latin typeface="Segoe UI"/>
              </a:defRPr>
            </a:pPr>
            <a:r>
              <a:t>HONEST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C4899"/>
                </a:solidFill>
                <a:latin typeface="Segoe UI"/>
              </a:defRPr>
            </a:pPr>
            <a:r>
              <a:t>⚠️  Rule-Based Heuristic Evaluation: </a:t>
            </a:r>
            <a:r>
              <a:rPr sz="1000" b="0">
                <a:solidFill>
                  <a:srgbClr val="A5B4FC"/>
                </a:solidFill>
                <a:latin typeface="Segoe UI"/>
              </a:rPr>
              <a:t>Uses deterministic rubric heuristics rather than nuanced semantic deep-learning evaluation.</a:t>
            </a:r>
          </a:p>
          <a:p>
            <a:pPr>
              <a:spcAft>
                <a:spcPts val="800"/>
              </a:spcAft>
              <a:defRPr sz="1100" b="1">
                <a:solidFill>
                  <a:srgbClr val="EC4899"/>
                </a:solidFill>
                <a:latin typeface="Segoe UI"/>
              </a:defRPr>
            </a:pPr>
            <a:r>
              <a:t>⚠️  Client-Side Storage Only: </a:t>
            </a:r>
            <a:r>
              <a:rPr sz="1000" b="0">
                <a:solidFill>
                  <a:srgbClr val="A5B4FC"/>
                </a:solidFill>
                <a:latin typeface="Segoe UI"/>
              </a:rPr>
              <a:t>Data is persisted in browser localStorage; clearing browser cache clears candidate progress.</a:t>
            </a:r>
          </a:p>
          <a:p>
            <a:pPr>
              <a:spcAft>
                <a:spcPts val="800"/>
              </a:spcAft>
              <a:defRPr sz="1100" b="1">
                <a:solidFill>
                  <a:srgbClr val="EC4899"/>
                </a:solidFill>
                <a:latin typeface="Segoe UI"/>
              </a:defRPr>
            </a:pPr>
            <a:r>
              <a:t>⚠️  Simulated ATS Parser: </a:t>
            </a:r>
            <a:r>
              <a:rPr sz="1000" b="0">
                <a:solidFill>
                  <a:srgbClr val="A5B4FC"/>
                </a:solidFill>
                <a:latin typeface="Segoe UI"/>
              </a:rPr>
              <a:t>Keyword extraction matches a curated engineering taxonomy rather than proprietary ATS enterprise engines.</a:t>
            </a:r>
          </a:p>
          <a:p>
            <a:pPr>
              <a:spcAft>
                <a:spcPts val="800"/>
              </a:spcAft>
              <a:defRPr sz="1100" b="1">
                <a:solidFill>
                  <a:srgbClr val="EC4899"/>
                </a:solidFill>
                <a:latin typeface="Segoe UI"/>
              </a:defRPr>
            </a:pPr>
            <a:r>
              <a:t>⚠️  No Real-Time Audio or Vision: </a:t>
            </a:r>
            <a:r>
              <a:rPr sz="1000" b="0">
                <a:solidFill>
                  <a:srgbClr val="A5B4FC"/>
                </a:solidFill>
                <a:latin typeface="Segoe UI"/>
              </a:rPr>
              <a:t>Voice mode is signposted but requires Phase 2 integration for acoustic/visual emotion detection.</a:t>
            </a:r>
          </a:p>
          <a:p>
            <a:pPr>
              <a:spcAft>
                <a:spcPts val="800"/>
              </a:spcAft>
              <a:defRPr sz="1100" b="1">
                <a:solidFill>
                  <a:srgbClr val="EC4899"/>
                </a:solidFill>
                <a:latin typeface="Segoe UI"/>
              </a:defRPr>
            </a:pPr>
            <a:r>
              <a:t>⚠️  Single Candidate Session: </a:t>
            </a:r>
            <a:r>
              <a:rPr sz="1000" b="0">
                <a:solidFill>
                  <a:srgbClr val="A5B4FC"/>
                </a:solidFill>
                <a:latin typeface="Segoe UI"/>
              </a:rPr>
              <a:t>Lacks multi-user authentication, cloud syncing, and multi-device profile handoffs.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1081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5B4FC"/>
                </a:solidFill>
                <a:latin typeface="Segoe UI"/>
              </a:defRPr>
            </a:pPr>
            <a:r>
              <a:t>🎯 Engineering Trade-off: Prioritized complete front-to-back user experience and zero-latency local evaluation.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1480"/>
            <a:ext cx="3657600" cy="292608"/>
          </a:xfrm>
          <a:prstGeom prst="roundRect">
            <a:avLst/>
          </a:prstGeom>
          <a:solidFill>
            <a:srgbClr val="2319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●  EVALUATION DEMO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Live Demonstration Walkthrough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4FC"/>
                </a:solidFill>
                <a:latin typeface="Segoe UI"/>
              </a:defRPr>
            </a:pPr>
            <a:r>
              <a:t>Step-by-step evaluator script demonstrating the unbroken career preparation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57800" cy="713232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1645920" cy="219456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06B6D4"/>
                </a:solidFill>
                <a:latin typeface="Segoe UI"/>
              </a:defRPr>
            </a:pPr>
            <a:r>
              <a:t>STEP 1: LANDING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193852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Visit '/' ➔ Observe futuristic AI branding, audio waveform, and value proposition.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828800"/>
            <a:ext cx="5257800" cy="713232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36792" y="1965960"/>
            <a:ext cx="1645920" cy="219456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06B6D4"/>
                </a:solidFill>
                <a:latin typeface="Segoe UI"/>
              </a:defRPr>
            </a:pPr>
            <a:r>
              <a:t>STEP 2: DEMO FAST-TRACK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1" y="193852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Click 'Start Mock Interview' ➔ Instant login as Alex Rivera with return-path memory.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33472"/>
            <a:ext cx="5257800" cy="713232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770632"/>
            <a:ext cx="1645920" cy="219456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A855F7"/>
                </a:solidFill>
                <a:latin typeface="Segoe UI"/>
              </a:defRPr>
            </a:pPr>
            <a:r>
              <a:t>STEP 3: INTERVIEW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39" y="27432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Configure Machine Learning Engineer + Technical Deep Dive + Intermediate tier.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633472"/>
            <a:ext cx="5257800" cy="713232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36792" y="2770632"/>
            <a:ext cx="1645920" cy="219456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A855F7"/>
                </a:solidFill>
                <a:latin typeface="Segoe UI"/>
              </a:defRPr>
            </a:pPr>
            <a:r>
              <a:t>STEP 4: INTERVIEW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1" y="27432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Inspect calibrated briefing, 5 evaluation rubrics, and Voice Mode Coming Soon notice.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38144"/>
            <a:ext cx="5257800" cy="713232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3575304"/>
            <a:ext cx="1645920" cy="219456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EC4899"/>
                </a:solidFill>
                <a:latin typeface="Segoe UI"/>
              </a:defRPr>
            </a:pPr>
            <a:r>
              <a:t>STEP 5: MOCK INTERVIEW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39" y="354787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Experience live 3:00 timer, insert sample answer, observe adaptive difficulty triggers.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438144"/>
            <a:ext cx="5257800" cy="713232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6792" y="3575304"/>
            <a:ext cx="1645920" cy="219456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EC4899"/>
                </a:solidFill>
                <a:latin typeface="Segoe UI"/>
              </a:defRPr>
            </a:pPr>
            <a:r>
              <a:t>STEP 6: FEEDBACK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1" y="354787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Review 82/100 score gauge, 5-dimension rubric breakdown, and agent decision timeline.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42816"/>
            <a:ext cx="5257800" cy="713232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4379976"/>
            <a:ext cx="1645920" cy="219456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22C55E"/>
                </a:solidFill>
                <a:latin typeface="Segoe UI"/>
              </a:defRPr>
            </a:pPr>
            <a:r>
              <a:t>STEP 7: SKILL GAP ANALYZER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39" y="4352544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Inspect SVG 6-axis Radar Chart and dynamic Top 3 deficit bottlenecks.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4242816"/>
            <a:ext cx="5257800" cy="713232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36792" y="4379976"/>
            <a:ext cx="1645920" cy="219456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22C55E"/>
                </a:solidFill>
                <a:latin typeface="Segoe UI"/>
              </a:defRPr>
            </a:pPr>
            <a:r>
              <a:t>STEP 8: DAILY CHALLENGE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1" y="4352544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Solve Supervised vs Unsupervised drill, insert response, earn +50 XP, advance streak.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47488"/>
            <a:ext cx="5257800" cy="713232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" y="5184648"/>
            <a:ext cx="1645920" cy="219456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STEP 9: MAIN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39" y="5157216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Observe updated scores, interactive practice plan, and AI coach recommendation.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5047488"/>
            <a:ext cx="5257800" cy="713232"/>
          </a:xfrm>
          <a:prstGeom prst="roundRect">
            <a:avLst/>
          </a:prstGeom>
          <a:solidFill>
            <a:srgbClr val="191A3A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36792" y="5184648"/>
            <a:ext cx="1645920" cy="219456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STEP 10: ATS RESUME SCANNER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1" y="5157216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Upload resume PDF, paste job description, audit matched vs missing keywords.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61081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2C55E"/>
                </a:solidFill>
                <a:latin typeface="Segoe UI"/>
              </a:defRPr>
            </a:pPr>
            <a:r>
              <a:t>⚡ Evaluator Note: The entire demo runs instantaneously in any standard browser at http://localhost:5173/ with zero server lag.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9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48640"/>
            <a:ext cx="6858000" cy="320040"/>
          </a:xfrm>
          <a:prstGeom prst="roundRect">
            <a:avLst/>
          </a:prstGeom>
          <a:solidFill>
            <a:srgbClr val="231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FULL-STACK AI PLATFORM  •  AUTONOMOUS ARCHITECTURE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728655" cy="2926080"/>
          </a:xfrm>
          <a:prstGeom prst="roundRect">
            <a:avLst/>
          </a:prstGeom>
          <a:solidFill>
            <a:srgbClr val="191A3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CONCLUSION: TRANSFORMING CAREER PREPARATION</a:t>
            </a:r>
          </a:p>
          <a:p>
            <a:pPr>
              <a:spcAft>
                <a:spcPts val="1200"/>
              </a:spcAft>
              <a:defRPr sz="1350">
                <a:solidFill>
                  <a:srgbClr val="A5B4FC"/>
                </a:solidFill>
                <a:latin typeface="Segoe UI"/>
              </a:defRPr>
            </a:pPr>
            <a:r>
              <a:t>The AI Career Preparation Agent demonstrates that interview readiness can be transformed from fragmented self-study into a connected, adaptive, and agent-driven digital experience.</a:t>
            </a:r>
          </a:p>
          <a:p>
            <a:pPr>
              <a:defRPr sz="1150" b="1">
                <a:solidFill>
                  <a:srgbClr val="22C55E"/>
                </a:solidFill>
                <a:latin typeface="Segoe UI"/>
              </a:defRPr>
            </a:pPr>
            <a:r>
              <a:t>Core Takeaway: The key innovation is not merely an interview chatbot, but an autonomous closed-loop career workflow: Resume Audit ➔ Skill Gap ➔ Mock Simulation ➔ Performance Assessment ➔ Personalized Daily Practice.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5212080" cy="201168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4434840"/>
            <a:ext cx="2194560" cy="237744"/>
          </a:xfrm>
          <a:prstGeom prst="roundRect">
            <a:avLst/>
          </a:prstGeom>
          <a:solidFill>
            <a:srgbClr val="1E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OPEN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006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Production-Ready Stack</a:t>
            </a:r>
          </a:p>
          <a:p>
            <a:pPr>
              <a:defRPr sz="1050">
                <a:solidFill>
                  <a:srgbClr val="A5B4FC"/>
                </a:solidFill>
                <a:latin typeface="Segoe UI"/>
              </a:defRPr>
            </a:pPr>
            <a:r>
              <a:t>Modular Architecture  |  FastAPI + React 19</a:t>
            </a:r>
            <a:br/>
            <a:r>
              <a:t>Deterministic Rubric Scoring &amp; RAG Pipeline</a:t>
            </a:r>
            <a:br/>
            <a:r>
              <a:t>Zero Cloud Secrets Committed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51960"/>
            <a:ext cx="5212080" cy="2011680"/>
          </a:xfrm>
          <a:prstGeom prst="roundRect">
            <a:avLst/>
          </a:prstGeom>
          <a:solidFill>
            <a:srgbClr val="141834"/>
          </a:solidFill>
          <a:ln w="12700">
            <a:solidFill>
              <a:srgbClr val="41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4434840"/>
            <a:ext cx="2194560" cy="237744"/>
          </a:xfrm>
          <a:prstGeom prst="roundRect">
            <a:avLst/>
          </a:prstGeom>
          <a:solidFill>
            <a:srgbClr val="23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TECHNICAL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8006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AI Career Preparation Platform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Prototype codebase is fully operational and open for live committee demonstration and architectural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